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147480246" r:id="rId2"/>
    <p:sldId id="214748024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1820"/>
    <a:srgbClr val="767B7F"/>
    <a:srgbClr val="F1C400"/>
    <a:srgbClr val="00AEEF"/>
    <a:srgbClr val="FFFFFF"/>
    <a:srgbClr val="656978"/>
    <a:srgbClr val="C3C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F25ACC-2AA5-413C-84DE-7254367E8E75}" v="26" dt="2025-11-21T19:31:05.224"/>
    <p1510:client id="{A5BF47DC-6DFA-C0E9-C865-5CD1520CD00C}" v="32" dt="2025-11-21T20:04:33"/>
    <p1510:client id="{AEB5B167-BF9E-5DF9-8646-3362B55B91B8}" v="7" dt="2025-11-21T19:29:05.127"/>
    <p1510:client id="{D44C1920-E75D-EB46-C795-92C9828B42BE}" v="2" dt="2025-11-21T19:01:35.424"/>
    <p1510:client id="{ECA2BC6F-713E-C31B-FD72-183BA1714492}" v="8" dt="2025-11-21T19:32:05.0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A8DF0-8FB6-C71C-A54C-3DB6AB1287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D13F1C-915D-ADCF-B071-500A1B655E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AE1D0-6A0E-E3DD-0D12-594D5B466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6A6E0-D78F-4C31-BA6C-FF18339F4D17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250B9-9E32-5277-7886-2B9D08D7F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7520B-FD03-8471-FD69-B9C9B8353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347C8-AB65-4673-9263-47F86238F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167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C4387-20A3-12E3-D99D-22D83BCD2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1CFC7-F304-AFE7-612E-7D31D026E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F8FB2-B316-6CF3-0DEA-A3AB7030A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6A6E0-D78F-4C31-BA6C-FF18339F4D17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650FE-AA9D-2645-D274-E95B081F6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679AD-20A5-2518-C6AB-A5338CC37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347C8-AB65-4673-9263-47F86238F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592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C6885-F683-BD1B-F643-323B046A4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62A478-5318-B1FD-89E6-E08CA91E3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99B21-9512-D550-C44A-BFE405D68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6A6E0-D78F-4C31-BA6C-FF18339F4D17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3519F-8642-3686-B239-AA5BBD8AB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B64A4-9DD4-4E1E-969D-0ED492F36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347C8-AB65-4673-9263-47F86238F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97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E3460-4E54-C5E1-CF94-5F35EDA90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5423C-C394-0CF6-6E28-652F366FE5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D5111D-4C7E-599D-28B8-692FDCE08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8FC3C3-0F42-58BD-C211-9E48413E9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6A6E0-D78F-4C31-BA6C-FF18339F4D17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81A30B-E145-31C4-2471-15B080333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1A5639-3B27-D17D-A535-A388DF5F0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347C8-AB65-4673-9263-47F86238F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413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187F6-A084-F938-3F34-C4F24FC29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61B5AC-B1F3-1B7A-1F67-30CC21DA3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BC5DAB-09EF-7B65-6155-592679EE10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EB1358-7A37-D593-DFC9-4AA2D63E15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7F6036-4153-86C5-12D8-0DBF53D426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3AE9CA-54B7-A903-B56B-70DE2E4A9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6A6E0-D78F-4C31-BA6C-FF18339F4D17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C3301C-68FC-602D-83B7-F35A71651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6A8C7D-2BB8-F6D2-0E8C-420B481A3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347C8-AB65-4673-9263-47F86238F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990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A313E-C3CB-63B4-D3D3-D6EEA079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3518B1-0559-F450-DF8F-A851100A9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6A6E0-D78F-4C31-BA6C-FF18339F4D17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D8DE38-CE72-E691-A836-556FD2D23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4C3F-4C18-34CE-D5CD-1E22F4B07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347C8-AB65-4673-9263-47F86238F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0070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42166A-F65F-CA99-ED82-EBE0C8E66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6A6E0-D78F-4C31-BA6C-FF18339F4D17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E5155F-A23F-226B-F231-77FC6ED1E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9BB3B8-E5A0-3207-D46F-0A7B23D52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347C8-AB65-4673-9263-47F86238F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9748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B78EA-92C5-335D-C781-C3A72D2EC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978B4-3034-9222-6B06-D0B544AE0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31F12-35E2-A442-1640-C13265AC40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ECA94C-4CC4-1C75-C1A3-5E55AA0BA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6A6E0-D78F-4C31-BA6C-FF18339F4D17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BBB0A-689A-5A53-3D2D-C502B959A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707181-9580-6F05-E54A-B634D9097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347C8-AB65-4673-9263-47F86238F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533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CB8EA-FC1E-8F2F-4BCD-D2C16A731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2D8CC1-666E-1645-10A5-8BD1C03B7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6B6651-C779-4C2C-7411-5C8C66F838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99B2B5-0064-64AD-B601-238DC7A42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6A6E0-D78F-4C31-BA6C-FF18339F4D17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87BCF-AEAA-6509-BA17-E77030CF0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40D689-ED77-29B3-19E1-B2974CDC6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347C8-AB65-4673-9263-47F86238F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1357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5209A-FEE9-3E78-4582-F2BB370DA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B1354A-14D0-3D22-2295-809E9132F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CAD24-BBD8-F501-37C6-AEBD6651D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6A6E0-D78F-4C31-BA6C-FF18339F4D17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41C92-88D8-B656-53AB-D8C39F85D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624DA-57E4-3CE5-76FD-BA44D33D0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347C8-AB65-4673-9263-47F86238F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339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0A7FD6-ADA6-C379-955A-A38CE2A492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BAFBE1-7312-7D68-0C9A-0F37688632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022A4-26E0-1147-91D5-D715CA615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6A6E0-D78F-4C31-BA6C-FF18339F4D17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4D716-64D1-1AD3-E657-B33DC5091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F2B68-60CB-1D09-9254-F85E21E0E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347C8-AB65-4673-9263-47F86238F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02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DE1534-F084-4678-1A3E-D10E6EE1B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BF4532-9130-602C-8B7E-55EABECAA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944A4-D837-C84D-BF4D-5AC51948C4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16A6E0-D78F-4C31-BA6C-FF18339F4D17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B67F8-5EEE-BB73-7AE0-87F2D679F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BF301-A991-8A88-7D87-72D0337C1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B347C8-AB65-4673-9263-47F86238F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269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578E6C-C841-15EB-E179-1D6520DADFC2}"/>
              </a:ext>
            </a:extLst>
          </p:cNvPr>
          <p:cNvSpPr txBox="1"/>
          <p:nvPr/>
        </p:nvSpPr>
        <p:spPr>
          <a:xfrm>
            <a:off x="504225" y="2656158"/>
            <a:ext cx="5630784" cy="19389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sz="6000" b="1">
                <a:solidFill>
                  <a:srgbClr val="00AEEF"/>
                </a:solidFill>
                <a:latin typeface="Helvetica" pitchFamily="2" charset="0"/>
              </a:rPr>
              <a:t>Output Workflow</a:t>
            </a:r>
            <a:endParaRPr lang="en-ID" sz="6000" b="1">
              <a:solidFill>
                <a:srgbClr val="00AEEF"/>
              </a:solidFill>
              <a:latin typeface="Helvetica" pitchFamily="2" charset="0"/>
            </a:endParaRPr>
          </a:p>
        </p:txBody>
      </p:sp>
      <p:sp>
        <p:nvSpPr>
          <p:cNvPr id="4" name="Freeform: Shape 151">
            <a:extLst>
              <a:ext uri="{FF2B5EF4-FFF2-40B4-BE49-F238E27FC236}">
                <a16:creationId xmlns:a16="http://schemas.microsoft.com/office/drawing/2014/main" id="{4EFE1D30-EFB4-D039-2117-A30D1D084868}"/>
              </a:ext>
            </a:extLst>
          </p:cNvPr>
          <p:cNvSpPr/>
          <p:nvPr/>
        </p:nvSpPr>
        <p:spPr>
          <a:xfrm>
            <a:off x="4066477" y="0"/>
            <a:ext cx="8125523" cy="6858000"/>
          </a:xfrm>
          <a:custGeom>
            <a:avLst/>
            <a:gdLst>
              <a:gd name="connsiteX0" fmla="*/ 0 w 8125523"/>
              <a:gd name="connsiteY0" fmla="*/ 0 h 6858000"/>
              <a:gd name="connsiteX1" fmla="*/ 3750374 w 8125523"/>
              <a:gd name="connsiteY1" fmla="*/ 6858000 h 6858000"/>
              <a:gd name="connsiteX2" fmla="*/ 8125524 w 8125523"/>
              <a:gd name="connsiteY2" fmla="*/ 4468876 h 6858000"/>
              <a:gd name="connsiteX3" fmla="*/ 8125524 w 8125523"/>
              <a:gd name="connsiteY3" fmla="*/ 0 h 6858000"/>
              <a:gd name="connsiteX4" fmla="*/ 0 w 8125523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5523" h="6858000">
                <a:moveTo>
                  <a:pt x="0" y="0"/>
                </a:moveTo>
                <a:lnTo>
                  <a:pt x="3750374" y="6858000"/>
                </a:lnTo>
                <a:lnTo>
                  <a:pt x="8125524" y="4468876"/>
                </a:lnTo>
                <a:lnTo>
                  <a:pt x="8125524" y="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rcRect/>
            <a:tile tx="-1809750" ty="0" sx="100000" sy="100000" flip="none" algn="tl"/>
          </a:blip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8E46899-72BB-0727-06AB-E18D8C8FC1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3802" y="5829954"/>
            <a:ext cx="2221714" cy="360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001B8F36-736C-6B59-48CA-6E6BDC740E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" y="1818000"/>
            <a:ext cx="2480399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23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62D11-0E70-2AAE-280D-258A6D2C5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AE13AB83-937E-14F1-7AAB-0B9F171C1F77}"/>
              </a:ext>
            </a:extLst>
          </p:cNvPr>
          <p:cNvCxnSpPr>
            <a:cxnSpLocks/>
          </p:cNvCxnSpPr>
          <p:nvPr/>
        </p:nvCxnSpPr>
        <p:spPr>
          <a:xfrm flipH="1">
            <a:off x="3129091" y="4358432"/>
            <a:ext cx="2736051" cy="1313926"/>
          </a:xfrm>
          <a:prstGeom prst="bentConnector4">
            <a:avLst>
              <a:gd name="adj1" fmla="val -8355"/>
              <a:gd name="adj2" fmla="val 81291"/>
            </a:avLst>
          </a:prstGeom>
          <a:ln w="28575">
            <a:solidFill>
              <a:srgbClr val="C3C6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: Elbow 172">
            <a:extLst>
              <a:ext uri="{FF2B5EF4-FFF2-40B4-BE49-F238E27FC236}">
                <a16:creationId xmlns:a16="http://schemas.microsoft.com/office/drawing/2014/main" id="{15E204A3-10BB-8564-D7E5-A81DC22616AE}"/>
              </a:ext>
            </a:extLst>
          </p:cNvPr>
          <p:cNvCxnSpPr>
            <a:cxnSpLocks/>
          </p:cNvCxnSpPr>
          <p:nvPr/>
        </p:nvCxnSpPr>
        <p:spPr>
          <a:xfrm flipH="1">
            <a:off x="6096000" y="4347115"/>
            <a:ext cx="3175" cy="1302675"/>
          </a:xfrm>
          <a:prstGeom prst="bentConnector4">
            <a:avLst>
              <a:gd name="adj1" fmla="val -7200000"/>
              <a:gd name="adj2" fmla="val 24235"/>
            </a:avLst>
          </a:prstGeom>
          <a:ln w="28575">
            <a:solidFill>
              <a:srgbClr val="C3C6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: Elbow 185">
            <a:extLst>
              <a:ext uri="{FF2B5EF4-FFF2-40B4-BE49-F238E27FC236}">
                <a16:creationId xmlns:a16="http://schemas.microsoft.com/office/drawing/2014/main" id="{D589DE03-ED09-8648-A545-A6B24D3492D5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6096000" y="5429250"/>
            <a:ext cx="2872247" cy="231791"/>
          </a:xfrm>
          <a:prstGeom prst="bentConnector2">
            <a:avLst/>
          </a:prstGeom>
          <a:ln w="28575">
            <a:solidFill>
              <a:srgbClr val="C3C6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: Elbow 156">
            <a:extLst>
              <a:ext uri="{FF2B5EF4-FFF2-40B4-BE49-F238E27FC236}">
                <a16:creationId xmlns:a16="http://schemas.microsoft.com/office/drawing/2014/main" id="{9BC12BD3-ADB5-52AF-A0D6-AA3A5F58BAFF}"/>
              </a:ext>
            </a:extLst>
          </p:cNvPr>
          <p:cNvCxnSpPr>
            <a:cxnSpLocks/>
            <a:endCxn id="27" idx="2"/>
          </p:cNvCxnSpPr>
          <p:nvPr/>
        </p:nvCxnSpPr>
        <p:spPr>
          <a:xfrm flipH="1" flipV="1">
            <a:off x="3957401" y="3498332"/>
            <a:ext cx="2201489" cy="848783"/>
          </a:xfrm>
          <a:prstGeom prst="bentConnector4">
            <a:avLst>
              <a:gd name="adj1" fmla="val 100116"/>
              <a:gd name="adj2" fmla="val 121813"/>
            </a:avLst>
          </a:prstGeom>
          <a:ln w="28575">
            <a:solidFill>
              <a:srgbClr val="C3C6CC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: Elbow 160">
            <a:extLst>
              <a:ext uri="{FF2B5EF4-FFF2-40B4-BE49-F238E27FC236}">
                <a16:creationId xmlns:a16="http://schemas.microsoft.com/office/drawing/2014/main" id="{0C955147-17C1-E19C-33DC-8DDDCF614BF3}"/>
              </a:ext>
            </a:extLst>
          </p:cNvPr>
          <p:cNvCxnSpPr>
            <a:cxnSpLocks/>
            <a:endCxn id="22" idx="2"/>
          </p:cNvCxnSpPr>
          <p:nvPr/>
        </p:nvCxnSpPr>
        <p:spPr>
          <a:xfrm flipV="1">
            <a:off x="6158890" y="3498332"/>
            <a:ext cx="2043653" cy="848783"/>
          </a:xfrm>
          <a:prstGeom prst="bentConnector2">
            <a:avLst/>
          </a:prstGeom>
          <a:ln w="28575">
            <a:solidFill>
              <a:srgbClr val="C3C6CC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Сквиркл">
            <a:extLst>
              <a:ext uri="{FF2B5EF4-FFF2-40B4-BE49-F238E27FC236}">
                <a16:creationId xmlns:a16="http://schemas.microsoft.com/office/drawing/2014/main" id="{E048D9A8-B745-8954-D9D4-33FDACC9082B}"/>
              </a:ext>
            </a:extLst>
          </p:cNvPr>
          <p:cNvSpPr/>
          <p:nvPr/>
        </p:nvSpPr>
        <p:spPr>
          <a:xfrm>
            <a:off x="4895850" y="409872"/>
            <a:ext cx="2284867" cy="608760"/>
          </a:xfrm>
          <a:prstGeom prst="roundRect">
            <a:avLst>
              <a:gd name="adj" fmla="val 47876"/>
            </a:avLst>
          </a:prstGeom>
          <a:solidFill>
            <a:srgbClr val="646979"/>
          </a:solidFill>
          <a:ln w="12700" cap="flat">
            <a:noFill/>
            <a:miter lim="400000"/>
          </a:ln>
          <a:effectLst/>
        </p:spPr>
        <p:txBody>
          <a:bodyPr wrap="square" lIns="180000" tIns="36000" rIns="180000" bIns="36000" numCol="1" anchor="ctr">
            <a:spAutoFit/>
          </a:bodyPr>
          <a:lstStyle/>
          <a:p>
            <a:pPr algn="ctr"/>
            <a:r>
              <a:rPr lang="en-IN" sz="1200" dirty="0">
                <a:solidFill>
                  <a:schemeClr val="bg1"/>
                </a:solidFill>
                <a:latin typeface="Helvetica" pitchFamily="2" charset="0"/>
              </a:rPr>
              <a:t>Manifest Table</a:t>
            </a:r>
          </a:p>
          <a:p>
            <a:pPr algn="ctr"/>
            <a:r>
              <a:rPr lang="en-IN" sz="1200" b="1" dirty="0">
                <a:solidFill>
                  <a:schemeClr val="bg1"/>
                </a:solidFill>
                <a:latin typeface="Helvetica" pitchFamily="2" charset="0"/>
              </a:rPr>
              <a:t>2.5M</a:t>
            </a:r>
          </a:p>
        </p:txBody>
      </p:sp>
      <p:sp>
        <p:nvSpPr>
          <p:cNvPr id="9" name="Прямоугольник">
            <a:extLst>
              <a:ext uri="{FF2B5EF4-FFF2-40B4-BE49-F238E27FC236}">
                <a16:creationId xmlns:a16="http://schemas.microsoft.com/office/drawing/2014/main" id="{6503582C-2121-93C5-7D3F-4398780B8D34}"/>
              </a:ext>
            </a:extLst>
          </p:cNvPr>
          <p:cNvSpPr/>
          <p:nvPr/>
        </p:nvSpPr>
        <p:spPr>
          <a:xfrm>
            <a:off x="2463984" y="1104686"/>
            <a:ext cx="2867406" cy="330072"/>
          </a:xfrm>
          <a:prstGeom prst="rect">
            <a:avLst/>
          </a:prstGeom>
          <a:solidFill>
            <a:srgbClr val="00AEEF"/>
          </a:solidFill>
          <a:ln w="12700" cap="flat">
            <a:noFill/>
            <a:miter lim="400000"/>
          </a:ln>
          <a:effectLst/>
        </p:spPr>
        <p:txBody>
          <a:bodyPr wrap="none" lIns="180000" tIns="72000" rIns="180000" bIns="72000" numCol="1" anchor="ctr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Helvetica" pitchFamily="2" charset="0"/>
              </a:rPr>
              <a:t>Preprocessing Filter Identified </a:t>
            </a:r>
            <a:r>
              <a:rPr lang="en-US" sz="1200" b="1" dirty="0">
                <a:solidFill>
                  <a:schemeClr val="bg1"/>
                </a:solidFill>
                <a:latin typeface="Helvetica" pitchFamily="2" charset="0"/>
              </a:rPr>
              <a:t>~1.2M</a:t>
            </a:r>
          </a:p>
        </p:txBody>
      </p:sp>
      <p:sp>
        <p:nvSpPr>
          <p:cNvPr id="11" name="Прямоугольник">
            <a:extLst>
              <a:ext uri="{FF2B5EF4-FFF2-40B4-BE49-F238E27FC236}">
                <a16:creationId xmlns:a16="http://schemas.microsoft.com/office/drawing/2014/main" id="{E956F105-6144-E053-BE6D-74A9C0A6A4FC}"/>
              </a:ext>
            </a:extLst>
          </p:cNvPr>
          <p:cNvSpPr/>
          <p:nvPr/>
        </p:nvSpPr>
        <p:spPr>
          <a:xfrm>
            <a:off x="6860609" y="1090225"/>
            <a:ext cx="2760006" cy="514738"/>
          </a:xfrm>
          <a:prstGeom prst="rect">
            <a:avLst/>
          </a:prstGeom>
          <a:solidFill>
            <a:srgbClr val="00AEEF"/>
          </a:solidFill>
          <a:ln w="12700" cap="flat">
            <a:noFill/>
            <a:miter lim="400000"/>
          </a:ln>
          <a:effectLst/>
        </p:spPr>
        <p:txBody>
          <a:bodyPr wrap="none" lIns="180000" tIns="72000" rIns="180000" bIns="72000" numCol="1" anchor="ctr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Helvetica"/>
                <a:cs typeface="Helvetica"/>
              </a:rPr>
              <a:t>Not-prefiltered: Motion sensed and </a:t>
            </a:r>
          </a:p>
          <a:p>
            <a:r>
              <a:rPr lang="en-US" sz="1200" dirty="0">
                <a:solidFill>
                  <a:schemeClr val="bg1"/>
                </a:solidFill>
                <a:latin typeface="Helvetica"/>
                <a:cs typeface="Helvetica"/>
              </a:rPr>
              <a:t>Large File Size photos </a:t>
            </a:r>
            <a:r>
              <a:rPr lang="en-US" sz="1200" b="1" dirty="0">
                <a:solidFill>
                  <a:schemeClr val="bg1"/>
                </a:solidFill>
                <a:latin typeface="Helvetica"/>
                <a:cs typeface="Helvetica"/>
              </a:rPr>
              <a:t>~1.2M</a:t>
            </a:r>
          </a:p>
        </p:txBody>
      </p:sp>
      <p:sp>
        <p:nvSpPr>
          <p:cNvPr id="12" name="Прямоугольник">
            <a:extLst>
              <a:ext uri="{FF2B5EF4-FFF2-40B4-BE49-F238E27FC236}">
                <a16:creationId xmlns:a16="http://schemas.microsoft.com/office/drawing/2014/main" id="{5675C855-3B40-0945-2B67-65404B3E95C3}"/>
              </a:ext>
            </a:extLst>
          </p:cNvPr>
          <p:cNvSpPr/>
          <p:nvPr/>
        </p:nvSpPr>
        <p:spPr>
          <a:xfrm>
            <a:off x="2432726" y="1753435"/>
            <a:ext cx="2920306" cy="514738"/>
          </a:xfrm>
          <a:prstGeom prst="rect">
            <a:avLst/>
          </a:prstGeom>
          <a:solidFill>
            <a:srgbClr val="656978"/>
          </a:solidFill>
          <a:ln w="12700" cap="flat">
            <a:noFill/>
            <a:miter lim="400000"/>
          </a:ln>
          <a:effectLst/>
        </p:spPr>
        <p:txBody>
          <a:bodyPr wrap="none" lIns="180000" tIns="72000" rIns="180000" bIns="72000" numCol="1" anchor="ctr">
            <a:spAutoFit/>
          </a:bodyPr>
          <a:lstStyle/>
          <a:p>
            <a:r>
              <a:rPr lang="en-US" sz="1200" dirty="0" err="1">
                <a:solidFill>
                  <a:schemeClr val="bg1"/>
                </a:solidFill>
                <a:latin typeface="Helvetica" pitchFamily="2" charset="0"/>
              </a:rPr>
              <a:t>MegaDetector</a:t>
            </a:r>
            <a:r>
              <a:rPr lang="en-US" sz="1200" dirty="0">
                <a:solidFill>
                  <a:schemeClr val="bg1"/>
                </a:solidFill>
                <a:latin typeface="Helvetica" pitchFamily="2" charset="0"/>
              </a:rPr>
              <a:t> Binary Model identified</a:t>
            </a:r>
          </a:p>
          <a:p>
            <a:r>
              <a:rPr lang="en-US" sz="1200" b="1" dirty="0">
                <a:solidFill>
                  <a:schemeClr val="bg1"/>
                </a:solidFill>
                <a:latin typeface="Helvetica" pitchFamily="2" charset="0"/>
              </a:rPr>
              <a:t>91,098 Images </a:t>
            </a:r>
            <a:r>
              <a:rPr lang="en-US" sz="1200" dirty="0">
                <a:solidFill>
                  <a:schemeClr val="bg1"/>
                </a:solidFill>
                <a:latin typeface="Helvetica" pitchFamily="2" charset="0"/>
              </a:rPr>
              <a:t>might have </a:t>
            </a:r>
            <a:r>
              <a:rPr lang="en-US" sz="1200" b="1" dirty="0">
                <a:solidFill>
                  <a:schemeClr val="bg1"/>
                </a:solidFill>
                <a:latin typeface="Helvetica" pitchFamily="2" charset="0"/>
              </a:rPr>
              <a:t>Animals</a:t>
            </a:r>
          </a:p>
        </p:txBody>
      </p:sp>
      <p:sp>
        <p:nvSpPr>
          <p:cNvPr id="22" name="Прямоугольник">
            <a:extLst>
              <a:ext uri="{FF2B5EF4-FFF2-40B4-BE49-F238E27FC236}">
                <a16:creationId xmlns:a16="http://schemas.microsoft.com/office/drawing/2014/main" id="{00470612-F1B4-83D6-FA64-FE679B00CF89}"/>
              </a:ext>
            </a:extLst>
          </p:cNvPr>
          <p:cNvSpPr/>
          <p:nvPr/>
        </p:nvSpPr>
        <p:spPr>
          <a:xfrm>
            <a:off x="6831357" y="3095557"/>
            <a:ext cx="2742372" cy="402775"/>
          </a:xfrm>
          <a:prstGeom prst="rect">
            <a:avLst/>
          </a:prstGeom>
          <a:solidFill>
            <a:srgbClr val="00AEEF"/>
          </a:solidFill>
          <a:ln w="12700" cap="flat">
            <a:noFill/>
            <a:miter lim="400000"/>
          </a:ln>
          <a:effectLst/>
        </p:spPr>
        <p:txBody>
          <a:bodyPr wrap="none" lIns="180000" tIns="108000" rIns="180000" bIns="108000" numCol="1" anchor="ctr">
            <a:spAutoFit/>
          </a:bodyPr>
          <a:lstStyle/>
          <a:p>
            <a:r>
              <a:rPr lang="es-ES" sz="1200" err="1">
                <a:solidFill>
                  <a:schemeClr val="bg1"/>
                </a:solidFill>
                <a:latin typeface="Helvetica" pitchFamily="2" charset="0"/>
              </a:rPr>
              <a:t>Model</a:t>
            </a:r>
            <a:r>
              <a:rPr lang="es-ES" sz="1200">
                <a:solidFill>
                  <a:schemeClr val="bg1"/>
                </a:solidFill>
                <a:latin typeface="Helvetica" pitchFamily="2" charset="0"/>
              </a:rPr>
              <a:t> 2: </a:t>
            </a:r>
            <a:r>
              <a:rPr lang="es-ES" sz="1200" err="1">
                <a:solidFill>
                  <a:schemeClr val="bg1"/>
                </a:solidFill>
                <a:latin typeface="Helvetica" pitchFamily="2" charset="0"/>
              </a:rPr>
              <a:t>MegaDetector</a:t>
            </a:r>
            <a:r>
              <a:rPr lang="es-ES" sz="1200">
                <a:solidFill>
                  <a:schemeClr val="bg1"/>
                </a:solidFill>
                <a:latin typeface="Helvetica" pitchFamily="2" charset="0"/>
              </a:rPr>
              <a:t> v6b-yolo9c</a:t>
            </a:r>
            <a:endParaRPr lang="en-US" sz="1200">
              <a:solidFill>
                <a:schemeClr val="bg1"/>
              </a:solidFill>
              <a:latin typeface="Helvetica" pitchFamily="2" charset="0"/>
            </a:endParaRP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14BD88C1-315F-93BA-FC01-ED61C1C03369}"/>
              </a:ext>
            </a:extLst>
          </p:cNvPr>
          <p:cNvCxnSpPr>
            <a:cxnSpLocks/>
            <a:stCxn id="12" idx="2"/>
            <a:endCxn id="81" idx="1"/>
          </p:cNvCxnSpPr>
          <p:nvPr/>
        </p:nvCxnSpPr>
        <p:spPr>
          <a:xfrm rot="16200000" flipH="1">
            <a:off x="4403877" y="1757174"/>
            <a:ext cx="316728" cy="1338725"/>
          </a:xfrm>
          <a:prstGeom prst="bentConnector2">
            <a:avLst/>
          </a:prstGeom>
          <a:ln w="28575">
            <a:solidFill>
              <a:srgbClr val="C3C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Прямоугольник">
            <a:extLst>
              <a:ext uri="{FF2B5EF4-FFF2-40B4-BE49-F238E27FC236}">
                <a16:creationId xmlns:a16="http://schemas.microsoft.com/office/drawing/2014/main" id="{851BD06E-E4A5-F13B-B817-A5C21DB5C316}"/>
              </a:ext>
            </a:extLst>
          </p:cNvPr>
          <p:cNvSpPr/>
          <p:nvPr/>
        </p:nvSpPr>
        <p:spPr>
          <a:xfrm>
            <a:off x="2833077" y="3095557"/>
            <a:ext cx="2248647" cy="402775"/>
          </a:xfrm>
          <a:prstGeom prst="rect">
            <a:avLst/>
          </a:prstGeom>
          <a:solidFill>
            <a:srgbClr val="00AEEF"/>
          </a:solidFill>
          <a:ln w="12700" cap="flat">
            <a:noFill/>
            <a:miter lim="400000"/>
          </a:ln>
          <a:effectLst/>
        </p:spPr>
        <p:txBody>
          <a:bodyPr wrap="none" lIns="180000" tIns="108000" rIns="180000" bIns="108000" numCol="1" anchor="ctr">
            <a:spAutoFit/>
          </a:bodyPr>
          <a:lstStyle/>
          <a:p>
            <a:r>
              <a:rPr lang="es-ES" sz="1200" err="1">
                <a:solidFill>
                  <a:schemeClr val="bg1"/>
                </a:solidFill>
                <a:latin typeface="Helvetica" pitchFamily="2" charset="0"/>
              </a:rPr>
              <a:t>Model</a:t>
            </a:r>
            <a:r>
              <a:rPr lang="es-ES" sz="1200">
                <a:solidFill>
                  <a:schemeClr val="bg1"/>
                </a:solidFill>
                <a:latin typeface="Helvetica" pitchFamily="2" charset="0"/>
              </a:rPr>
              <a:t> 1: </a:t>
            </a:r>
            <a:r>
              <a:rPr lang="es-ES" sz="1200" err="1">
                <a:solidFill>
                  <a:schemeClr val="bg1"/>
                </a:solidFill>
                <a:latin typeface="Helvetica" pitchFamily="2" charset="0"/>
              </a:rPr>
              <a:t>MegaDetector</a:t>
            </a:r>
            <a:r>
              <a:rPr lang="es-ES" sz="1200">
                <a:solidFill>
                  <a:schemeClr val="bg1"/>
                </a:solidFill>
                <a:latin typeface="Helvetica" pitchFamily="2" charset="0"/>
              </a:rPr>
              <a:t> v5a</a:t>
            </a:r>
            <a:endParaRPr lang="en-US" sz="120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29" name="Сквиркл">
            <a:extLst>
              <a:ext uri="{FF2B5EF4-FFF2-40B4-BE49-F238E27FC236}">
                <a16:creationId xmlns:a16="http://schemas.microsoft.com/office/drawing/2014/main" id="{171E0BD7-F35F-419A-0557-7BA713B6EC96}"/>
              </a:ext>
            </a:extLst>
          </p:cNvPr>
          <p:cNvSpPr/>
          <p:nvPr/>
        </p:nvSpPr>
        <p:spPr>
          <a:xfrm>
            <a:off x="2620728" y="5649790"/>
            <a:ext cx="2101234" cy="723819"/>
          </a:xfrm>
          <a:prstGeom prst="roundRect">
            <a:avLst>
              <a:gd name="adj" fmla="val 50000"/>
            </a:avLst>
          </a:prstGeom>
          <a:solidFill>
            <a:srgbClr val="F1C400"/>
          </a:solidFill>
          <a:ln w="12700" cap="flat">
            <a:noFill/>
            <a:miter lim="400000"/>
          </a:ln>
          <a:effectLst/>
        </p:spPr>
        <p:txBody>
          <a:bodyPr wrap="none" lIns="180000" tIns="72000" rIns="180000" bIns="72000" numCol="1" anchor="ctr">
            <a:spAutoFit/>
          </a:bodyPr>
          <a:lstStyle/>
          <a:p>
            <a:r>
              <a:rPr lang="en-IN" sz="1200" dirty="0">
                <a:latin typeface="Helvetica" pitchFamily="2" charset="0"/>
              </a:rPr>
              <a:t>Human:</a:t>
            </a:r>
          </a:p>
          <a:p>
            <a:r>
              <a:rPr lang="en-IN" sz="1200" b="1" dirty="0">
                <a:latin typeface="Helvetica" pitchFamily="2" charset="0"/>
              </a:rPr>
              <a:t>1,368 Images (0.05%)</a:t>
            </a:r>
          </a:p>
        </p:txBody>
      </p:sp>
      <p:sp>
        <p:nvSpPr>
          <p:cNvPr id="31" name="Сквиркл">
            <a:extLst>
              <a:ext uri="{FF2B5EF4-FFF2-40B4-BE49-F238E27FC236}">
                <a16:creationId xmlns:a16="http://schemas.microsoft.com/office/drawing/2014/main" id="{868B3895-7F91-4565-78B9-A4BC491A4F4E}"/>
              </a:ext>
            </a:extLst>
          </p:cNvPr>
          <p:cNvSpPr/>
          <p:nvPr/>
        </p:nvSpPr>
        <p:spPr>
          <a:xfrm>
            <a:off x="5098376" y="5672358"/>
            <a:ext cx="2101234" cy="723819"/>
          </a:xfrm>
          <a:prstGeom prst="roundRect">
            <a:avLst>
              <a:gd name="adj" fmla="val 50000"/>
            </a:avLst>
          </a:prstGeom>
          <a:solidFill>
            <a:srgbClr val="F1C400"/>
          </a:solidFill>
          <a:ln w="12700" cap="flat">
            <a:noFill/>
            <a:miter lim="400000"/>
          </a:ln>
          <a:effectLst/>
        </p:spPr>
        <p:txBody>
          <a:bodyPr wrap="none" lIns="180000" tIns="72000" rIns="180000" bIns="72000" numCol="1" anchor="ctr">
            <a:spAutoFit/>
          </a:bodyPr>
          <a:lstStyle/>
          <a:p>
            <a:r>
              <a:rPr lang="en-IN" sz="1200" dirty="0">
                <a:latin typeface="Helvetica" pitchFamily="2" charset="0"/>
              </a:rPr>
              <a:t>Animal:</a:t>
            </a:r>
          </a:p>
          <a:p>
            <a:r>
              <a:rPr lang="en-IN" sz="1200" b="1" dirty="0">
                <a:latin typeface="Helvetica" pitchFamily="2" charset="0"/>
              </a:rPr>
              <a:t>5,458 Images (0.22%)</a:t>
            </a:r>
          </a:p>
        </p:txBody>
      </p:sp>
      <p:sp>
        <p:nvSpPr>
          <p:cNvPr id="32" name="Сквиркл">
            <a:extLst>
              <a:ext uri="{FF2B5EF4-FFF2-40B4-BE49-F238E27FC236}">
                <a16:creationId xmlns:a16="http://schemas.microsoft.com/office/drawing/2014/main" id="{CE5A3CD2-3637-3EAC-6675-2536BF75AB45}"/>
              </a:ext>
            </a:extLst>
          </p:cNvPr>
          <p:cNvSpPr/>
          <p:nvPr/>
        </p:nvSpPr>
        <p:spPr>
          <a:xfrm>
            <a:off x="7787050" y="5661041"/>
            <a:ext cx="2362394" cy="723819"/>
          </a:xfrm>
          <a:prstGeom prst="roundRect">
            <a:avLst>
              <a:gd name="adj" fmla="val 50000"/>
            </a:avLst>
          </a:prstGeom>
          <a:solidFill>
            <a:srgbClr val="F1C400"/>
          </a:solidFill>
          <a:ln w="12700" cap="flat">
            <a:noFill/>
            <a:miter lim="400000"/>
          </a:ln>
          <a:effectLst/>
        </p:spPr>
        <p:txBody>
          <a:bodyPr wrap="none" lIns="180000" tIns="72000" rIns="180000" bIns="72000" numCol="1" anchor="ctr">
            <a:spAutoFit/>
          </a:bodyPr>
          <a:lstStyle/>
          <a:p>
            <a:r>
              <a:rPr lang="en-IN" sz="1200" dirty="0">
                <a:latin typeface="Helvetica" pitchFamily="2" charset="0"/>
              </a:rPr>
              <a:t>Vehicle:</a:t>
            </a:r>
          </a:p>
          <a:p>
            <a:r>
              <a:rPr lang="en-IN" sz="1200" b="1" dirty="0">
                <a:latin typeface="Helvetica" pitchFamily="2" charset="0"/>
              </a:rPr>
              <a:t>334,250 images (13.37%)</a:t>
            </a: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F76247E0-83BD-814F-2C54-B46178FB1BD0}"/>
              </a:ext>
            </a:extLst>
          </p:cNvPr>
          <p:cNvCxnSpPr>
            <a:cxnSpLocks/>
            <a:stCxn id="27" idx="0"/>
          </p:cNvCxnSpPr>
          <p:nvPr/>
        </p:nvCxnSpPr>
        <p:spPr>
          <a:xfrm rot="5400000" flipH="1" flipV="1">
            <a:off x="4855329" y="1795171"/>
            <a:ext cx="402458" cy="2198314"/>
          </a:xfrm>
          <a:prstGeom prst="bentConnector3">
            <a:avLst>
              <a:gd name="adj1" fmla="val 50000"/>
            </a:avLst>
          </a:prstGeom>
          <a:ln w="28575">
            <a:solidFill>
              <a:srgbClr val="C3C6CC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F31F6B7A-A151-DBC0-FE44-1189769A2F72}"/>
              </a:ext>
            </a:extLst>
          </p:cNvPr>
          <p:cNvCxnSpPr>
            <a:cxnSpLocks/>
            <a:stCxn id="22" idx="0"/>
          </p:cNvCxnSpPr>
          <p:nvPr/>
        </p:nvCxnSpPr>
        <p:spPr>
          <a:xfrm rot="16200000" flipV="1">
            <a:off x="6977900" y="1870914"/>
            <a:ext cx="402458" cy="2046828"/>
          </a:xfrm>
          <a:prstGeom prst="bentConnector3">
            <a:avLst>
              <a:gd name="adj1" fmla="val 50000"/>
            </a:avLst>
          </a:prstGeom>
          <a:ln w="28575">
            <a:solidFill>
              <a:srgbClr val="C3C6CC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Фигура">
            <a:extLst>
              <a:ext uri="{FF2B5EF4-FFF2-40B4-BE49-F238E27FC236}">
                <a16:creationId xmlns:a16="http://schemas.microsoft.com/office/drawing/2014/main" id="{1249F4C2-193A-5D17-5672-FFF128879AFC}"/>
              </a:ext>
            </a:extLst>
          </p:cNvPr>
          <p:cNvSpPr/>
          <p:nvPr/>
        </p:nvSpPr>
        <p:spPr>
          <a:xfrm>
            <a:off x="4623436" y="3524842"/>
            <a:ext cx="2951478" cy="16445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474853"/>
          </a:solidFill>
          <a:ln w="12700" cap="flat">
            <a:noFill/>
            <a:miter lim="400000"/>
          </a:ln>
          <a:effectLst/>
        </p:spPr>
        <p:txBody>
          <a:bodyPr wrap="none" lIns="900000" tIns="540000" rIns="900000" bIns="540000" numCol="1" anchor="ctr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  <a:latin typeface="Helvetica" pitchFamily="2" charset="0"/>
              </a:rPr>
              <a:t>Tagged by either</a:t>
            </a:r>
            <a:endParaRPr lang="en-US" dirty="0"/>
          </a:p>
          <a:p>
            <a:r>
              <a:rPr lang="en-US" sz="1200" dirty="0">
                <a:solidFill>
                  <a:srgbClr val="FFFFFF"/>
                </a:solidFill>
                <a:latin typeface="Helvetica" pitchFamily="2" charset="0"/>
              </a:rPr>
              <a:t>of the models:</a:t>
            </a:r>
            <a:endParaRPr lang="en-US" sz="1200" dirty="0">
              <a:solidFill>
                <a:srgbClr val="FFFFFF"/>
              </a:solidFill>
              <a:latin typeface="Helvetica" pitchFamily="2" charset="0"/>
              <a:cs typeface="Helvetica" pitchFamily="2" charset="0"/>
            </a:endParaRPr>
          </a:p>
          <a:p>
            <a:r>
              <a:rPr lang="en-US" sz="1200" b="1" dirty="0">
                <a:solidFill>
                  <a:srgbClr val="FFFFFF"/>
                </a:solidFill>
                <a:latin typeface="Helvetica" pitchFamily="2" charset="0"/>
              </a:rPr>
              <a:t>956,874 Images</a:t>
            </a:r>
            <a:endParaRPr lang="en-US" sz="1200" b="1" dirty="0">
              <a:solidFill>
                <a:srgbClr val="FFFFFF"/>
              </a:solidFill>
              <a:latin typeface="Helvetica" pitchFamily="2" charset="0"/>
              <a:cs typeface="Helvetica" pitchFamily="2" charset="0"/>
            </a:endParaRP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82043325-3B1E-11B9-A29D-25269AFF0BD1}"/>
              </a:ext>
            </a:extLst>
          </p:cNvPr>
          <p:cNvCxnSpPr>
            <a:cxnSpLocks/>
            <a:stCxn id="9" idx="0"/>
            <a:endCxn id="5" idx="1"/>
          </p:cNvCxnSpPr>
          <p:nvPr/>
        </p:nvCxnSpPr>
        <p:spPr>
          <a:xfrm rot="5400000" flipH="1" flipV="1">
            <a:off x="4201551" y="410388"/>
            <a:ext cx="390434" cy="998163"/>
          </a:xfrm>
          <a:prstGeom prst="bentConnector2">
            <a:avLst/>
          </a:prstGeom>
          <a:ln w="28575">
            <a:solidFill>
              <a:srgbClr val="C3C6CC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74398376-F8EC-0FAB-21EA-45821806C979}"/>
              </a:ext>
            </a:extLst>
          </p:cNvPr>
          <p:cNvCxnSpPr>
            <a:cxnSpLocks/>
            <a:stCxn id="11" idx="0"/>
            <a:endCxn id="5" idx="3"/>
          </p:cNvCxnSpPr>
          <p:nvPr/>
        </p:nvCxnSpPr>
        <p:spPr>
          <a:xfrm rot="16200000" flipV="1">
            <a:off x="7522679" y="372291"/>
            <a:ext cx="375973" cy="1059895"/>
          </a:xfrm>
          <a:prstGeom prst="bentConnector2">
            <a:avLst/>
          </a:prstGeom>
          <a:ln w="28575">
            <a:solidFill>
              <a:srgbClr val="C3C6CC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370625D6-60ED-80AB-F19D-CF0CE1250B32}"/>
              </a:ext>
            </a:extLst>
          </p:cNvPr>
          <p:cNvCxnSpPr>
            <a:cxnSpLocks/>
            <a:stCxn id="12" idx="0"/>
            <a:endCxn id="9" idx="2"/>
          </p:cNvCxnSpPr>
          <p:nvPr/>
        </p:nvCxnSpPr>
        <p:spPr>
          <a:xfrm rot="5400000" flipH="1" flipV="1">
            <a:off x="3735945" y="1591693"/>
            <a:ext cx="318677" cy="4808"/>
          </a:xfrm>
          <a:prstGeom prst="bentConnector3">
            <a:avLst>
              <a:gd name="adj1" fmla="val 50000"/>
            </a:avLst>
          </a:prstGeom>
          <a:ln w="28575">
            <a:solidFill>
              <a:srgbClr val="C3C6CC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Сквиркл">
            <a:extLst>
              <a:ext uri="{FF2B5EF4-FFF2-40B4-BE49-F238E27FC236}">
                <a16:creationId xmlns:a16="http://schemas.microsoft.com/office/drawing/2014/main" id="{7342F31D-62CB-FC4A-4A2B-9799A1C9E877}"/>
              </a:ext>
            </a:extLst>
          </p:cNvPr>
          <p:cNvSpPr/>
          <p:nvPr/>
        </p:nvSpPr>
        <p:spPr>
          <a:xfrm>
            <a:off x="5231604" y="2484144"/>
            <a:ext cx="1712544" cy="201513"/>
          </a:xfrm>
          <a:prstGeom prst="roundRect">
            <a:avLst>
              <a:gd name="adj" fmla="val 41197"/>
            </a:avLst>
          </a:prstGeom>
          <a:solidFill>
            <a:srgbClr val="C3C6CC"/>
          </a:solidFill>
          <a:ln w="12700" cap="flat">
            <a:noFill/>
            <a:miter lim="400000"/>
          </a:ln>
          <a:effectLst/>
        </p:spPr>
        <p:txBody>
          <a:bodyPr wrap="none" lIns="108000" tIns="0" rIns="108000" bIns="0" numCol="1" anchor="ctr">
            <a:spAutoFit/>
          </a:bodyPr>
          <a:lstStyle/>
          <a:p>
            <a:r>
              <a:rPr lang="en-IN" sz="1000" b="1" dirty="0">
                <a:solidFill>
                  <a:srgbClr val="656978"/>
                </a:solidFill>
                <a:latin typeface="Helvetica" pitchFamily="2" charset="0"/>
              </a:rPr>
              <a:t>~1.2M+91,098=1,279,887</a:t>
            </a:r>
          </a:p>
        </p:txBody>
      </p: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A6F2B1AE-666B-9038-0105-10792B4D4152}"/>
              </a:ext>
            </a:extLst>
          </p:cNvPr>
          <p:cNvCxnSpPr>
            <a:cxnSpLocks/>
            <a:stCxn id="11" idx="2"/>
            <a:endCxn id="81" idx="3"/>
          </p:cNvCxnSpPr>
          <p:nvPr/>
        </p:nvCxnSpPr>
        <p:spPr>
          <a:xfrm rot="5400000">
            <a:off x="7102411" y="1446700"/>
            <a:ext cx="979938" cy="1296464"/>
          </a:xfrm>
          <a:prstGeom prst="bentConnector2">
            <a:avLst/>
          </a:prstGeom>
          <a:ln w="28575">
            <a:solidFill>
              <a:srgbClr val="C3C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8972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74</Words>
  <Application>Microsoft Office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Helvetica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Raghav Sharma</dc:creator>
  <cp:lastModifiedBy>Tanying Wang</cp:lastModifiedBy>
  <cp:revision>21</cp:revision>
  <dcterms:created xsi:type="dcterms:W3CDTF">2025-11-20T20:36:52Z</dcterms:created>
  <dcterms:modified xsi:type="dcterms:W3CDTF">2025-12-10T05:37:50Z</dcterms:modified>
</cp:coreProperties>
</file>